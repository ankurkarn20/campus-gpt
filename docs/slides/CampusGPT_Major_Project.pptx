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03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  <p:sldId id="268" r:id="rId4"/>
    <p:sldId id="269" r:id="rId3"/>
    <p:sldId id="270" r:id="rId2"/>
    <p:sldId id="271" r:id="rId22"/>
    <p:sldId id="272" r:id="rId23"/>
    <p:sldId id="273" r:id="rId24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995d5ac-dcbc-cb33-0de0-1a19f252f1bb}">
          <p14:sldIdLst>
            <p14:sldId id="256"/>
            <p14:sldId id="257"/>
          </p14:sldIdLst>
        </p14:section>
        <p14:section name="Background" id="{bac58ff9-e595-40ba-1fed-39b6cda21001}">
          <p14:sldIdLst>
            <p14:sldId id="258"/>
            <p14:sldId id="259"/>
            <p14:sldId id="260"/>
            <p14:sldId id="261"/>
          </p14:sldIdLst>
        </p14:section>
        <p14:section name="Method" id="{494c19a6-4b25-8197-b5e0-47fac4ecc7e4}">
          <p14:sldIdLst>
            <p14:sldId id="262"/>
            <p14:sldId id="263"/>
            <p14:sldId id="264"/>
          </p14:sldIdLst>
        </p14:section>
        <p14:section name="Results" id="{ec23a0d1-66a9-a336-e78f-0782497bdb30}">
          <p14:sldIdLst>
            <p14:sldId id="265"/>
            <p14:sldId id="266"/>
          </p14:sldIdLst>
        </p14:section>
        <p14:section name="Closing" id="{2266f557-6692-acb1-b59f-ddf630387361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P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73152"/>
            <a:ext cx="12006072" cy="6711696"/>
          </a:xfrm>
          <a:prstGeom prst="rect">
            <a:avLst/>
          </a:pr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P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73152"/>
            <a:ext cx="12006072" cy="6711696"/>
          </a:xfrm>
          <a:prstGeom prst="rect">
            <a:avLst/>
          </a:prstGeom>
          <a:solidFill>
            <a:schemeClr val="bg1">
              <a:alpha val="0"/>
            </a:schemeClr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3" name="Image 0" descr="upes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128016"/>
            <a:ext cx="1335024" cy="566928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-1003-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28016"/>
            <a:ext cx="877824" cy="1499616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2" y="146304"/>
            <a:ext cx="4434840" cy="1901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331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chemeClr val="tx1"/>
                </a:solidFill>
              </a:rPr>
              <a:t>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chemeClr val="tx1"/>
                </a:solidFill>
              </a:rPr>
              <a:t>Title: CampusGPT: AI-Powered University Intelligence and Student Assistance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0916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chemeClr val="tx1"/>
                </a:solidFill>
              </a:rPr>
              <a:t>Presented by:</a:t>
            </a:r>
          </a:p>
          <a:p>
            <a:r>
              <a:rPr sz="1800" b="0" i="0">
                <a:solidFill>
                  <a:schemeClr val="tx1"/>
                </a:solidFill>
              </a:rPr>
              <a:t>Ankur Karn  500118986</a:t>
            </a:r>
          </a:p>
          <a:p>
            <a:r>
              <a:rPr sz="1800" b="0" i="0">
                <a:solidFill>
                  <a:schemeClr val="tx1"/>
                </a:solidFill>
              </a:rPr>
              <a:t>Ashmita Sharma  500122422</a:t>
            </a:r>
          </a:p>
          <a:p>
            <a:r>
              <a:rPr sz="1800" b="0" i="0">
                <a:solidFill>
                  <a:schemeClr val="tx1"/>
                </a:solidFill>
              </a:rPr>
              <a:t>Ananya Singh  500123837</a:t>
            </a:r>
          </a:p>
          <a:p>
            <a:r>
              <a:rPr sz="1800" b="0" i="0">
                <a:solidFill>
                  <a:schemeClr val="tx1"/>
                </a:solidFill>
              </a:rPr>
              <a:t>Ayushi Mishra  500121986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70916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chemeClr val="tx1"/>
                </a:solidFill>
              </a:rPr>
              <a:t>Institution:</a:t>
            </a:r>
          </a:p>
          <a:p>
            <a:r>
              <a:rPr sz="1800" b="0" i="0">
                <a:solidFill>
                  <a:schemeClr val="tx1"/>
                </a:solidFill>
              </a:rPr>
              <a:t>School of Computer Science, UPES Dehradun</a:t>
            </a:r>
          </a:p>
          <a:p>
            <a:r>
              <a:rPr sz="1800" b="0" i="0">
                <a:solidFill>
                  <a:schemeClr val="tx1"/>
                </a:solidFill>
              </a:rPr>
              <a:t>B.Tech CSE (Cyber Security), Batch 11</a:t>
            </a:r>
          </a:p>
          <a:p>
            <a:r>
              <a:rPr sz="1800" b="0" i="0">
                <a:solidFill>
                  <a:schemeClr val="tx1"/>
                </a:solidFill>
              </a:rPr>
              <a:t>Mentor: Mr. Yogesh Rathia</a:t>
            </a:r>
          </a:p>
          <a:p>
            <a:r>
              <a:rPr sz="1800" b="0" i="0">
                <a:solidFill>
                  <a:schemeClr val="tx1"/>
                </a:solidFill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1. Abstract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2. Introduction &amp; Problem Statement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3. Objectives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4. Literature Review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5. Dataset Description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6. Methodology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7. System Architecture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8. 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105156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9. Inter-Process Communication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10. Database Design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11. Implementation: Concepts and Libraries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12. Security and Data Isolation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13. SWOT Analysis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14. Project Schedule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15. Limitations, Future Work &amp; Conclusion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chemeClr val="tx1"/>
                </a:solidFill>
              </a:rPr>
              <a:t>16.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1.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Students search </a:t>
            </a:r>
            <a:r>
              <a:rPr sz="2200" b="1" i="0">
                <a:solidFill>
                  <a:schemeClr val="tx1"/>
                </a:solidFill>
              </a:rPr>
              <a:t>several portals, PDFs and notice boards</a:t>
            </a:r>
            <a:r>
              <a:rPr sz="2200" b="0" i="0">
                <a:solidFill>
                  <a:schemeClr val="tx1"/>
                </a:solidFill>
              </a:rPr>
              <a:t> for attendance, exams, fees and rules, and general chatbots </a:t>
            </a:r>
            <a:r>
              <a:rPr sz="2200" b="1" i="0">
                <a:solidFill>
                  <a:schemeClr val="tx1"/>
                </a:solidFill>
              </a:rPr>
              <a:t>cannot see their records</a:t>
            </a:r>
            <a:r>
              <a:rPr sz="2200" b="0" i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We build </a:t>
            </a:r>
            <a:r>
              <a:rPr sz="2200" b="1" i="0">
                <a:solidFill>
                  <a:schemeClr val="tx1"/>
                </a:solidFill>
              </a:rPr>
              <a:t>CampusGPT</a:t>
            </a:r>
            <a:r>
              <a:rPr sz="2200" b="0" i="0">
                <a:solidFill>
                  <a:schemeClr val="tx1"/>
                </a:solidFill>
              </a:rPr>
              <a:t>, an AI helpdesk that answers in plain language from the student's </a:t>
            </a:r>
            <a:r>
              <a:rPr sz="2200" b="1" i="0">
                <a:solidFill>
                  <a:schemeClr val="tx1"/>
                </a:solidFill>
              </a:rPr>
              <a:t>own records</a:t>
            </a:r>
            <a:r>
              <a:rPr sz="2200" b="0" i="0">
                <a:solidFill>
                  <a:schemeClr val="tx1"/>
                </a:solidFill>
              </a:rPr>
              <a:t> and the university's </a:t>
            </a:r>
            <a:r>
              <a:rPr sz="2200" b="1" i="0">
                <a:solidFill>
                  <a:schemeClr val="tx1"/>
                </a:solidFill>
              </a:rPr>
              <a:t>policy documents</a:t>
            </a:r>
            <a:r>
              <a:rPr sz="2200" b="0" i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The AI never touches the database: it calls </a:t>
            </a:r>
            <a:r>
              <a:rPr sz="2200" b="1" i="0">
                <a:solidFill>
                  <a:schemeClr val="tx1"/>
                </a:solidFill>
              </a:rPr>
              <a:t>9 read-only tools</a:t>
            </a:r>
            <a:r>
              <a:rPr sz="2200" b="0" i="0">
                <a:solidFill>
                  <a:schemeClr val="tx1"/>
                </a:solidFill>
              </a:rPr>
              <a:t>, and the backend decides </a:t>
            </a:r>
            <a:r>
              <a:rPr sz="2200" b="1" i="0">
                <a:solidFill>
                  <a:schemeClr val="tx1"/>
                </a:solidFill>
              </a:rPr>
              <a:t>whose data is returned</a:t>
            </a:r>
            <a:r>
              <a:rPr sz="2200" b="0" i="0">
                <a:solidFill>
                  <a:schemeClr val="tx1"/>
                </a:solidFill>
              </a:rPr>
              <a:t> from the login session.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Policy answers use </a:t>
            </a:r>
            <a:r>
              <a:rPr sz="2200" b="1" i="0">
                <a:solidFill>
                  <a:schemeClr val="tx1"/>
                </a:solidFill>
              </a:rPr>
              <a:t>hybrid retrieval (RAG)</a:t>
            </a:r>
            <a:r>
              <a:rPr sz="2200" b="0" i="0">
                <a:solidFill>
                  <a:schemeClr val="tx1"/>
                </a:solidFill>
              </a:rPr>
              <a:t> with </a:t>
            </a:r>
            <a:r>
              <a:rPr sz="2200" b="1" i="0">
                <a:solidFill>
                  <a:schemeClr val="tx1"/>
                </a:solidFill>
              </a:rPr>
              <a:t>verified citations</a:t>
            </a:r>
            <a:r>
              <a:rPr sz="2200" b="0" i="0">
                <a:solidFill>
                  <a:schemeClr val="tx1"/>
                </a:solidFill>
              </a:rPr>
              <a:t>; calculations such as attendance shortfall are done by </a:t>
            </a:r>
            <a:r>
              <a:rPr sz="2200" b="1" i="0">
                <a:solidFill>
                  <a:schemeClr val="tx1"/>
                </a:solidFill>
              </a:rPr>
              <a:t>deterministic code</a:t>
            </a:r>
            <a:r>
              <a:rPr sz="2200" b="0" i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Built on a </a:t>
            </a:r>
            <a:r>
              <a:rPr sz="2200" b="1" i="0">
                <a:solidFill>
                  <a:schemeClr val="tx1"/>
                </a:solidFill>
              </a:rPr>
              <a:t>5,000-student synthetic database</a:t>
            </a:r>
            <a:r>
              <a:rPr sz="2200" b="0" i="0">
                <a:solidFill>
                  <a:schemeClr val="tx1"/>
                </a:solidFill>
              </a:rPr>
              <a:t> with a free stack (FastAPI, PostgreSQL + pgvector, Next.js, free-tier LLM) and evaluated against </a:t>
            </a:r>
            <a:r>
              <a:rPr sz="2200" b="1" i="0">
                <a:solidFill>
                  <a:schemeClr val="tx1"/>
                </a:solidFill>
              </a:rPr>
              <a:t>three simpler baselines</a:t>
            </a:r>
            <a:r>
              <a:rPr sz="2200" b="0" i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2. Introduction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chemeClr val="accent2"/>
                </a:solidFill>
              </a:rPr>
              <a:t>5,000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chemeClr val="tx1"/>
                </a:solidFill>
              </a:rPr>
              <a:t>synthetic student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4528" y="1005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chemeClr val="accent2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4528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chemeClr val="tx1"/>
                </a:solidFill>
              </a:rPr>
              <a:t>permission-checked AI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5008" y="1005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chemeClr val="tx1"/>
                </a:solidFill>
              </a:rPr>
              <a:t>direct database access for the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94560"/>
            <a:ext cx="11430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2000" b="1" i="0">
                <a:solidFill>
                  <a:schemeClr val="tx1"/>
                </a:solidFill>
              </a:rPr>
              <a:t>Scattered information</a:t>
            </a:r>
            <a:r>
              <a:rPr sz="2000" b="0" i="0">
                <a:solidFill>
                  <a:schemeClr val="tx1"/>
                </a:solidFill>
              </a:rPr>
              <a:t>: attendance in the ERP, rules in PDFs, deadlines on notice boards.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2000" b="1" i="0">
                <a:solidFill>
                  <a:schemeClr val="tx1"/>
                </a:solidFill>
              </a:rPr>
              <a:t>Generic chatbots</a:t>
            </a:r>
            <a:r>
              <a:rPr sz="2000" b="0" i="0">
                <a:solidFill>
                  <a:schemeClr val="tx1"/>
                </a:solidFill>
              </a:rPr>
              <a:t> know nothing about the student and can invent policy (hallucination).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2000" b="1" i="0">
                <a:solidFill>
                  <a:schemeClr val="tx1"/>
                </a:solidFill>
              </a:rPr>
              <a:t>Privacy risk</a:t>
            </a:r>
            <a:r>
              <a:rPr sz="2000" b="0" i="0">
                <a:solidFill>
                  <a:schemeClr val="tx1"/>
                </a:solidFill>
              </a:rPr>
              <a:t>: giving an AI direct database access could expose another student's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434840"/>
            <a:ext cx="11430000" cy="20116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4526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chemeClr val="accent2"/>
                </a:solidFill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83479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chemeClr val="tx1"/>
                </a:solidFill>
              </a:rPr>
              <a:t>Students have no single place to ask questions that need both </a:t>
            </a:r>
            <a:r>
              <a:rPr sz="2000" b="1" i="0">
                <a:solidFill>
                  <a:schemeClr val="tx1"/>
                </a:solidFill>
              </a:rPr>
              <a:t>their own records</a:t>
            </a:r>
            <a:r>
              <a:rPr sz="2000" b="0" i="0">
                <a:solidFill>
                  <a:schemeClr val="tx1"/>
                </a:solidFill>
              </a:rPr>
              <a:t> and </a:t>
            </a:r>
            <a:r>
              <a:rPr sz="2000" b="1" i="0">
                <a:solidFill>
                  <a:schemeClr val="tx1"/>
                </a:solidFill>
              </a:rPr>
              <a:t>university rules</a:t>
            </a:r>
            <a:r>
              <a:rPr sz="2000" b="0" i="0">
                <a:solidFill>
                  <a:schemeClr val="tx1"/>
                </a:solidFill>
              </a:rPr>
              <a:t>, and existing AI assistants are either </a:t>
            </a:r>
            <a:r>
              <a:rPr sz="2000" b="1" i="0">
                <a:solidFill>
                  <a:schemeClr val="tx1"/>
                </a:solidFill>
              </a:rPr>
              <a:t>ungrounded</a:t>
            </a:r>
            <a:r>
              <a:rPr sz="2000" b="0" i="0">
                <a:solidFill>
                  <a:schemeClr val="tx1"/>
                </a:solidFill>
              </a:rPr>
              <a:t> or </a:t>
            </a:r>
            <a:r>
              <a:rPr sz="2000" b="1" i="0">
                <a:solidFill>
                  <a:schemeClr val="tx1"/>
                </a:solidFill>
              </a:rPr>
              <a:t>unsafe</a:t>
            </a:r>
            <a:r>
              <a:rPr sz="2000" b="0" i="0">
                <a:solidFill>
                  <a:schemeClr val="tx1"/>
                </a:solidFill>
              </a:rPr>
              <a:t> with personal data. There is a need for a </a:t>
            </a:r>
            <a:r>
              <a:rPr sz="2000" b="1" i="0">
                <a:solidFill>
                  <a:schemeClr val="tx1"/>
                </a:solidFill>
              </a:rPr>
              <a:t>free, grounded and secure assistant</a:t>
            </a:r>
            <a:r>
              <a:rPr sz="2000" b="0" i="0">
                <a:solidFill>
                  <a:schemeClr val="tx1"/>
                </a:solidFill>
              </a:rPr>
              <a:t> that answers from verified sources and never reveals one student's data to another.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chemeClr val="accent2"/>
                </a:solidFill>
              </a:rPr>
              <a:t>Main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417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chemeClr val="tx1"/>
                </a:solidFill>
              </a:rPr>
              <a:t>Design and build a secure AI assistant that answers students' academic and administrative questions from their own records and university policy documents, with sources, without giving the AI direct database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377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chemeClr val="accent2"/>
                </a:solidFill>
              </a:rPr>
              <a:t>Sub-Objectives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278892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2000" b="1" i="0">
                <a:solidFill>
                  <a:schemeClr val="tx1"/>
                </a:solidFill>
              </a:rPr>
              <a:t>Data</a:t>
            </a:r>
            <a:r>
              <a:rPr sz="2000" b="0" i="0">
                <a:solidFill>
                  <a:schemeClr val="tx1"/>
                </a:solidFill>
              </a:rPr>
              <a:t>: a reproducible synthetic university of 5,000 students with consistent courses, attendance, exams and fees.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2000" b="1" i="0">
                <a:solidFill>
                  <a:schemeClr val="tx1"/>
                </a:solidFill>
              </a:rPr>
              <a:t>Security</a:t>
            </a:r>
            <a:r>
              <a:rPr sz="2000" b="0" i="0">
                <a:solidFill>
                  <a:schemeClr val="tx1"/>
                </a:solidFill>
              </a:rPr>
              <a:t>: login, student and admin roles, and backend-enforced data isolation.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2000" b="1" i="0">
                <a:solidFill>
                  <a:schemeClr val="tx1"/>
                </a:solidFill>
              </a:rPr>
              <a:t>AI tools</a:t>
            </a:r>
            <a:r>
              <a:rPr sz="2000" b="0" i="0">
                <a:solidFill>
                  <a:schemeClr val="tx1"/>
                </a:solidFill>
              </a:rPr>
              <a:t>: 9 read-only tools with schema validation and audit logging.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2000" b="1" i="0">
                <a:solidFill>
                  <a:schemeClr val="tx1"/>
                </a:solidFill>
              </a:rPr>
              <a:t>Retrieval</a:t>
            </a:r>
            <a:r>
              <a:rPr sz="2000" b="0" i="0">
                <a:solidFill>
                  <a:schemeClr val="tx1"/>
                </a:solidFill>
              </a:rPr>
              <a:t>: hybrid vector + keyword search over policy documents with verified citations.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2000" b="1" i="0">
                <a:solidFill>
                  <a:schemeClr val="tx1"/>
                </a:solidFill>
              </a:rPr>
              <a:t>Campus intelligence</a:t>
            </a:r>
            <a:r>
              <a:rPr sz="2000" b="0" i="0">
                <a:solidFill>
                  <a:schemeClr val="tx1"/>
                </a:solidFill>
              </a:rPr>
              <a:t>: a prioritised “what to take care of this week” summary.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2000" b="1" i="0">
                <a:solidFill>
                  <a:schemeClr val="tx1"/>
                </a:solidFill>
              </a:rPr>
              <a:t>Evaluation</a:t>
            </a:r>
            <a:r>
              <a:rPr sz="2000" b="0" i="0">
                <a:solidFill>
                  <a:schemeClr val="tx1"/>
                </a:solidFill>
              </a:rPr>
              <a:t>: answer and citation accuracy, tool selection, latency and leakage tests against baselines.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4. Literature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4048" y="1051560"/>
          <a:ext cx="11430000" cy="4389120"/>
        </p:xfrm>
        <a:graphic>
          <a:graphicData uri="http://schemas.openxmlformats.org/drawingml/2006/table">
            <a:tbl>
              <a:tblPr firstRow="0" bandRow="0"/>
              <a:tblGrid>
                <a:gridCol w="1417320"/>
                <a:gridCol w="2788920"/>
                <a:gridCol w="2377440"/>
                <a:gridCol w="2514600"/>
                <a:gridCol w="23317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chemeClr val="tx1"/>
                          </a:solidFill>
                        </a:rPr>
                        <a:t>Year - Ref.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chemeClr val="tx1"/>
                          </a:solidFill>
                        </a:rPr>
                        <a:t>Proposed Work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chemeClr val="tx1"/>
                          </a:solidFill>
                        </a:rPr>
                        <a:t>Results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chemeClr val="tx1"/>
                          </a:solidFill>
                        </a:rPr>
                        <a:t>Limitations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2009 - Cormack et al. [1]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Reciprocal rank fusion outperforms Condorcet and individual rank learning methods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Merge ranked lists by 1/(k + rank)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Simple fusion beat more complex learned methods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Fixed constant k; no learning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2020 - Lewis et al. [2]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Retrieval-augmented generation for knowledge-intensive NLP tasks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Generator conditioned on passages from a dense retriever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More factual answers than parametric-only models on open-domain QA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General knowledge only; no access control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2023 - Yao et al. [3]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ReAct: Synergizing reasoning and acting in language models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Interleave reasoning steps with tool actions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Beat reasoning-only and acting-only prompting on QA and decision tasks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Tools are unrestricted; errors compound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2023 - Schick et al. [4]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Toolformer: Language models can teach themselves to use tools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Model learns when to call APIs such as a calculator or search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Improved zero-shot results on several tasks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No permission model for tools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2023 - Greshake et al. [5]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Compromising real-world LLM-integrated applications with indirect prompt injection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Instructions hidden in retrieved content hijack the model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Attacks shown on real LLM-integrated applications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Prompts alone are not a safeguard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2023 - Ji et al. [6]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Survey of hallucination in natural language generation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Taxonomy of hallucination and its mitigations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Grounding in retrieved evidence is a key mitigation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No single method removes hallucination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2024 - Es et al. [7]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RAGAS: Automated evaluation of retrieval augmented generation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Reference-free metrics: faithfulness, answer and context relevance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Evaluates RAG answers without labelled references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Relies on an LLM as judge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84048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chemeClr val="accent2"/>
                </a:solidFill>
              </a:rPr>
              <a:t>Gap:</a:t>
            </a:r>
            <a:r>
              <a:rPr sz="1500" b="0" i="0">
                <a:solidFill>
                  <a:schemeClr val="accent2"/>
                </a:solidFill>
              </a:rPr>
              <a:t> none of these combines personal records, policy retrieval and backend-enforced access control, which is the focus of CampusGPT.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5. 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14300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Synthetic by design</a:t>
            </a:r>
            <a:r>
              <a:rPr sz="1800" b="0" i="0">
                <a:solidFill>
                  <a:schemeClr val="tx1"/>
                </a:solidFill>
              </a:rPr>
              <a:t>: no real university data; students, notices and documents are labelled is_synthetic.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Scale</a:t>
            </a:r>
            <a:r>
              <a:rPr sz="1800" b="0" i="0">
                <a:solidFill>
                  <a:schemeClr val="tx1"/>
                </a:solidFill>
              </a:rPr>
              <a:t>: 5,000 students, 148 faculty, 190 courses and about 825,000 attendance records, generated and loaded in about 20 seconds.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Realistic</a:t>
            </a:r>
            <a:r>
              <a:rPr sz="1800" b="0" i="0">
                <a:solidFill>
                  <a:schemeClr val="tx1"/>
                </a:solidFill>
              </a:rPr>
              <a:t>: Indian names (Faker en_IN); program, semester and courses always consistent; deliberate edge cases such as attendance just below 75%.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Reproducible</a:t>
            </a:r>
            <a:r>
              <a:rPr sz="1800" b="0" i="0">
                <a:solidFill>
                  <a:schemeClr val="tx1"/>
                </a:solidFill>
              </a:rPr>
              <a:t>: fixed random seed; one command rebuilds the database.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Policy documents</a:t>
            </a:r>
            <a:r>
              <a:rPr sz="1800" b="0" i="0">
                <a:solidFill>
                  <a:schemeClr val="tx1"/>
                </a:solidFill>
              </a:rPr>
              <a:t>: team-written rules for attendance, exams, fees and hostel, clearly marked fictional.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63640" y="1234440"/>
          <a:ext cx="5577840" cy="4114800"/>
        </p:xfrm>
        <a:graphic>
          <a:graphicData uri="http://schemas.openxmlformats.org/drawingml/2006/table">
            <a:tbl>
              <a:tblPr firstRow="0" bandRow="0"/>
              <a:tblGrid>
                <a:gridCol w="1600200"/>
                <a:gridCol w="2697480"/>
                <a:gridCol w="1280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chemeClr val="tx1"/>
                          </a:solidFill>
                        </a:rPr>
                        <a:t>Contents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chemeClr val="tx1"/>
                          </a:solidFill>
                        </a:rPr>
                        <a:t>Rows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students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Name, program, semester, section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5,000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enrollments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Student ↔ course offering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25,000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class_sessions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One row per class held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15,338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attendance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Present / absent per session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824,636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assignments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Title, due date, marks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1,860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submissions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Submitted at, marks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65,378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exams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Type, date, room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1,395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invoices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Term, amount, due date, status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chemeClr val="tx1"/>
                          </a:solidFill>
                        </a:rPr>
                        <a:t>10,000</a:t>
                      </a: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6.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1188720"/>
            <a:ext cx="1783080" cy="173736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024127" y="12801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8288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2402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chemeClr val="bg1"/>
                </a:solidFill>
              </a:rPr>
              <a:t>Synthetic DB, 5,000 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288" y="1188720"/>
            <a:ext cx="1783080" cy="173736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944368" y="12801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chemeClr val="accent3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18288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chemeClr val="bg1"/>
                </a:solidFill>
              </a:rPr>
              <a:t>Secure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2402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chemeClr val="bg1"/>
                </a:solidFill>
              </a:rPr>
              <a:t>Login, roles, data isolation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188720"/>
            <a:ext cx="1783080" cy="173736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864608" y="12801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18288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chemeClr val="bg1"/>
                </a:solidFill>
              </a:rP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2402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chemeClr val="bg1"/>
                </a:solidFill>
              </a:rPr>
              <a:t>9 read-only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188720"/>
            <a:ext cx="1783080" cy="173736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784848" y="12801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8288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chemeClr val="bg1"/>
                </a:solidFill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2402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chemeClr val="bg1"/>
                </a:solidFill>
              </a:rPr>
              <a:t>Hybrid search + citations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1188720"/>
            <a:ext cx="1783080" cy="173736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705088" y="12801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chemeClr val="accent6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18288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chemeClr val="bg1"/>
                </a:solidFill>
              </a:rPr>
              <a:t>Orchestrate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2402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chemeClr val="bg1"/>
                </a:solidFill>
              </a:rPr>
              <a:t>LLM tool loop via adapter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85248" y="1188720"/>
            <a:ext cx="1783080" cy="173736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0625328" y="12801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18288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chemeClr val="bg1"/>
                </a:solidFill>
              </a:rPr>
              <a:t>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22402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chemeClr val="bg1"/>
                </a:solidFill>
              </a:rPr>
              <a:t>Chat + dashboard (Next.js)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3200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chemeClr val="accent2"/>
                </a:solidFill>
              </a:rPr>
              <a:t>Answering a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3703320"/>
            <a:ext cx="557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The LLM chooses tools; the backend checks the role and validates arguments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Tools run with the </a:t>
            </a:r>
            <a:r>
              <a:rPr sz="1800" b="1" i="0">
                <a:solidFill>
                  <a:schemeClr val="tx1"/>
                </a:solidFill>
              </a:rPr>
              <a:t>session's</a:t>
            </a:r>
            <a:r>
              <a:rPr sz="1800" b="0" i="0">
                <a:solidFill>
                  <a:schemeClr val="tx1"/>
                </a:solidFill>
              </a:rPr>
              <a:t> student ID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Policy chunks are passed to the LLM as untrusted text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Every citation is checked against the retrieved chunks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200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chemeClr val="accent2"/>
                </a:solidFill>
              </a:rPr>
              <a:t>Evaluation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70332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Answer and citation accuracy on a 50-question benchmark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Tool-selection accuracy and response latency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Cross-student leakage and prompt-injection tests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Comparison with three simpler baselines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7. System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51560"/>
            <a:ext cx="7680960" cy="54231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143000"/>
            <a:ext cx="3611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Client</a:t>
            </a:r>
            <a:r>
              <a:rPr sz="1600" b="0" i="0">
                <a:solidFill>
                  <a:schemeClr val="tx1"/>
                </a:solidFill>
              </a:rPr>
              <a:t>: Next.js student portal and admin console.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Application</a:t>
            </a:r>
            <a:r>
              <a:rPr sz="1600" b="0" i="0">
                <a:solidFill>
                  <a:schemeClr val="tx1"/>
                </a:solidFill>
              </a:rPr>
              <a:t>: one FastAPI process with authentication, chat orchestrator, tool registry and retrieval.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Worker</a:t>
            </a:r>
            <a:r>
              <a:rPr sz="1600" b="0" i="0">
                <a:solidFill>
                  <a:schemeClr val="tx1"/>
                </a:solidFill>
              </a:rPr>
              <a:t>: separate process for document ingestion.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Data</a:t>
            </a:r>
            <a:r>
              <a:rPr sz="1600" b="0" i="0">
                <a:solidFill>
                  <a:schemeClr val="tx1"/>
                </a:solidFill>
              </a:rPr>
              <a:t>: PostgreSQL 16 + pgvector for records, vectors, job queue and logs.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(1)–(4)</a:t>
            </a:r>
            <a:r>
              <a:rPr sz="1600" b="0" i="0">
                <a:solidFill>
                  <a:schemeClr val="tx1"/>
                </a:solidFill>
              </a:rPr>
              <a:t>: channels that cross a process boundary.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8. Data Flow Diagram (Level 1)</a:t>
            </a:r>
          </a:p>
        </p:txBody>
      </p:sp>
      <p:pic>
        <p:nvPicPr>
          <p:cNvPr id="3" name="Picture 2" descr="dfd-lev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51560"/>
            <a:ext cx="8138160" cy="53832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143000"/>
            <a:ext cx="3200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5 processes</a:t>
            </a:r>
            <a:r>
              <a:rPr sz="1600" b="0" i="0">
                <a:solidFill>
                  <a:schemeClr val="tx1"/>
                </a:solidFill>
              </a:rPr>
              <a:t>, </a:t>
            </a:r>
            <a:r>
              <a:rPr sz="1600" b="1" i="0">
                <a:solidFill>
                  <a:schemeClr val="tx1"/>
                </a:solidFill>
              </a:rPr>
              <a:t>5 data stores</a:t>
            </a:r>
            <a:r>
              <a:rPr sz="1600" b="0" i="0">
                <a:solidFill>
                  <a:schemeClr val="tx1"/>
                </a:solidFill>
              </a:rPr>
              <a:t>, 3 external entities.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0" i="0">
                <a:solidFill>
                  <a:schemeClr val="tx1"/>
                </a:solidFill>
              </a:rPr>
              <a:t>Every flow passes through a process; no entity touches a data store directly.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0" i="0">
                <a:solidFill>
                  <a:schemeClr val="tx1"/>
                </a:solidFill>
              </a:rPr>
              <a:t>Student identity enters only through </a:t>
            </a:r>
            <a:r>
              <a:rPr sz="1600" b="1" i="0">
                <a:solidFill>
                  <a:schemeClr val="tx1"/>
                </a:solidFill>
              </a:rPr>
              <a:t>1.0 Authenticate</a:t>
            </a:r>
            <a:r>
              <a:rPr sz="1600" b="0" i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3.0</a:t>
            </a:r>
            <a:r>
              <a:rPr sz="1600" b="0" i="0">
                <a:solidFill>
                  <a:schemeClr val="tx1"/>
                </a:solidFill>
              </a:rPr>
              <a:t> reads only the logged-in student's rows.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5.0</a:t>
            </a:r>
            <a:r>
              <a:rPr sz="1600" b="0" i="0">
                <a:solidFill>
                  <a:schemeClr val="tx1"/>
                </a:solidFill>
              </a:rPr>
              <a:t> runs in the separate worker process.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9. Inter-Process Communication</a:t>
            </a:r>
          </a:p>
        </p:txBody>
      </p:sp>
      <p:pic>
        <p:nvPicPr>
          <p:cNvPr id="3" name="Picture 2" descr="ipc-proc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51560"/>
            <a:ext cx="6675120" cy="4052985"/>
          </a:xfrm>
          <a:prstGeom prst="rect">
            <a:avLst/>
          </a:prstGeom>
        </p:spPr>
      </p:pic>
      <p:pic>
        <p:nvPicPr>
          <p:cNvPr id="4" name="Picture 3" descr="job-st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166360"/>
            <a:ext cx="3960725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69480" y="1097280"/>
            <a:ext cx="4572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500" b="1" i="0">
                <a:solidFill>
                  <a:schemeClr val="tx1"/>
                </a:solidFill>
              </a:rPr>
              <a:t>(1)</a:t>
            </a:r>
            <a:r>
              <a:rPr sz="1500" b="0" i="0">
                <a:solidFill>
                  <a:schemeClr val="tx1"/>
                </a:solidFill>
              </a:rPr>
              <a:t> REST + SSE streaming: browser ↔ API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500" b="1" i="0">
                <a:solidFill>
                  <a:schemeClr val="tx1"/>
                </a:solidFill>
              </a:rPr>
              <a:t>(2)</a:t>
            </a:r>
            <a:r>
              <a:rPr sz="1500" b="0" i="0">
                <a:solidFill>
                  <a:schemeClr val="tx1"/>
                </a:solidFill>
              </a:rPr>
              <a:t> PostgreSQL protocol, pooled: API / worker ↔ DB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500" b="1" i="0">
                <a:solidFill>
                  <a:schemeClr val="tx1"/>
                </a:solidFill>
              </a:rPr>
              <a:t>(3)</a:t>
            </a:r>
            <a:r>
              <a:rPr sz="1500" b="0" i="0">
                <a:solidFill>
                  <a:schemeClr val="tx1"/>
                </a:solidFill>
              </a:rPr>
              <a:t> LISTEN / NOTIFY: wakes the worker instantly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500" b="1" i="0">
                <a:solidFill>
                  <a:schemeClr val="tx1"/>
                </a:solidFill>
              </a:rPr>
              <a:t>(4)</a:t>
            </a:r>
            <a:r>
              <a:rPr sz="1500" b="0" i="0">
                <a:solidFill>
                  <a:schemeClr val="tx1"/>
                </a:solidFill>
              </a:rPr>
              <a:t> HTTPS: API → LLM provider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500" b="1" i="0">
                <a:solidFill>
                  <a:schemeClr val="tx1"/>
                </a:solidFill>
              </a:rPr>
              <a:t>(5)</a:t>
            </a:r>
            <a:r>
              <a:rPr sz="1500" b="0" i="0">
                <a:solidFill>
                  <a:schemeClr val="tx1"/>
                </a:solidFill>
              </a:rPr>
              <a:t> Shared job table with FOR UPDATE SKIP LOCKED: each job claimed once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500" b="1" i="0">
                <a:solidFill>
                  <a:schemeClr val="tx1"/>
                </a:solidFill>
              </a:rPr>
              <a:t>(6)</a:t>
            </a:r>
            <a:r>
              <a:rPr sz="1500" b="0" i="0">
                <a:solidFill>
                  <a:schemeClr val="tx1"/>
                </a:solidFill>
              </a:rPr>
              <a:t> HTTP: pages from the Next.js server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500" b="1" i="0">
                <a:solidFill>
                  <a:schemeClr val="tx1"/>
                </a:solidFill>
              </a:rPr>
              <a:t>(7)</a:t>
            </a:r>
            <a:r>
              <a:rPr sz="1500" b="0" i="0">
                <a:solidFill>
                  <a:schemeClr val="tx1"/>
                </a:solidFill>
              </a:rPr>
              <a:t> POSIX signals: graceful shutdown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500" b="0" i="0">
                <a:solidFill>
                  <a:schemeClr val="tx1"/>
                </a:solidFill>
              </a:rPr>
              <a:t>No extra message broker: PostgreSQL provides durability, locking and publish–subscribe.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10. Database Design</a:t>
            </a:r>
          </a:p>
        </p:txBody>
      </p:sp>
      <p:pic>
        <p:nvPicPr>
          <p:cNvPr id="3" name="Picture 2" descr="er-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51560"/>
            <a:ext cx="6766560" cy="5352472"/>
          </a:xfrm>
          <a:prstGeom prst="rect">
            <a:avLst/>
          </a:prstGeom>
        </p:spPr>
      </p:pic>
      <p:pic>
        <p:nvPicPr>
          <p:cNvPr id="4" name="Picture 3" descr="er-plat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097280"/>
            <a:ext cx="4572000" cy="28198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69480" y="406908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1" i="0">
                <a:solidFill>
                  <a:schemeClr val="tx1"/>
                </a:solidFill>
              </a:rPr>
              <a:t>23 tables</a:t>
            </a:r>
            <a:r>
              <a:rPr sz="1500" b="0" i="0">
                <a:solidFill>
                  <a:schemeClr val="tx1"/>
                </a:solidFill>
              </a:rPr>
              <a:t> in third normal form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chemeClr val="tx1"/>
                </a:solidFill>
              </a:rPr>
              <a:t>Derived values (attendance %) computed by a </a:t>
            </a:r>
            <a:r>
              <a:rPr sz="1500" b="1" i="0">
                <a:solidFill>
                  <a:schemeClr val="tx1"/>
                </a:solidFill>
              </a:rPr>
              <a:t>view</a:t>
            </a:r>
            <a:r>
              <a:rPr sz="1500" b="0" i="0">
                <a:solidFill>
                  <a:schemeClr val="tx1"/>
                </a:solidFill>
              </a:rPr>
              <a:t>, never stored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chemeClr val="tx1"/>
                </a:solidFill>
              </a:rPr>
              <a:t>Foreign keys, UNIQUE and CHECK constraints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1" i="0">
                <a:solidFill>
                  <a:schemeClr val="tx1"/>
                </a:solidFill>
              </a:rPr>
              <a:t>HNSW</a:t>
            </a:r>
            <a:r>
              <a:rPr sz="1500" b="0" i="0">
                <a:solidFill>
                  <a:schemeClr val="tx1"/>
                </a:solidFill>
              </a:rPr>
              <a:t> index for vectors, </a:t>
            </a:r>
            <a:r>
              <a:rPr sz="1500" b="1" i="0">
                <a:solidFill>
                  <a:schemeClr val="tx1"/>
                </a:solidFill>
              </a:rPr>
              <a:t>GIN</a:t>
            </a:r>
            <a:r>
              <a:rPr sz="1500" b="0" i="0">
                <a:solidFill>
                  <a:schemeClr val="tx1"/>
                </a:solidFill>
              </a:rPr>
              <a:t> for full-text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11. Implementation: Concepts and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chemeClr val="accent2"/>
                </a:solidFill>
              </a:rPr>
              <a:t>Programming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46304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 b="1" i="0">
                <a:solidFill>
                  <a:schemeClr val="tx1"/>
                </a:solidFill>
              </a:rPr>
              <a:t>OOP &amp; polymorphism</a:t>
            </a:r>
            <a:r>
              <a:rPr sz="1700" b="0" i="0">
                <a:solidFill>
                  <a:schemeClr val="tx1"/>
                </a:solidFill>
              </a:rPr>
              <a:t>: LLMProvider interface with Groq, Gemini and Ollama subclasses.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 b="1" i="0">
                <a:solidFill>
                  <a:schemeClr val="tx1"/>
                </a:solidFill>
              </a:rPr>
              <a:t>Design patterns</a:t>
            </a:r>
            <a:r>
              <a:rPr sz="1700" b="0" i="0">
                <a:solidFill>
                  <a:schemeClr val="tx1"/>
                </a:solidFill>
              </a:rPr>
              <a:t>: Adapter, Strategy, Registry, Repository, Pub–Sub.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 b="1" i="0">
                <a:solidFill>
                  <a:schemeClr val="tx1"/>
                </a:solidFill>
              </a:rPr>
              <a:t>Async &amp; generators</a:t>
            </a:r>
            <a:r>
              <a:rPr sz="1700" b="0" i="0">
                <a:solidFill>
                  <a:schemeClr val="tx1"/>
                </a:solidFill>
              </a:rPr>
              <a:t>: async/await I/O; SSE answer streaming.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 b="1" i="0">
                <a:solidFill>
                  <a:schemeClr val="tx1"/>
                </a:solidFill>
              </a:rPr>
              <a:t>Decorators &amp; DI</a:t>
            </a:r>
            <a:r>
              <a:rPr sz="1700" b="0" i="0">
                <a:solidFill>
                  <a:schemeClr val="tx1"/>
                </a:solidFill>
              </a:rPr>
              <a:t>: @tool registry; FastAPI Depends(current_user).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 b="1" i="0">
                <a:solidFill>
                  <a:schemeClr val="tx1"/>
                </a:solidFill>
              </a:rPr>
              <a:t>Transactions &amp; locking</a:t>
            </a:r>
            <a:r>
              <a:rPr sz="1700" b="0" i="0">
                <a:solidFill>
                  <a:schemeClr val="tx1"/>
                </a:solidFill>
              </a:rPr>
              <a:t>: ACID writes; FOR UPDATE SKIP LOCKED.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700" b="1" i="0">
                <a:solidFill>
                  <a:schemeClr val="tx1"/>
                </a:solidFill>
              </a:rPr>
              <a:t>Exact arithmetic</a:t>
            </a:r>
            <a:r>
              <a:rPr sz="1700" b="0" i="0">
                <a:solidFill>
                  <a:schemeClr val="tx1"/>
                </a:solidFill>
              </a:rPr>
              <a:t>: Fraction for attendance calculations.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chemeClr val="accent2"/>
                </a:solidFill>
              </a:rPr>
              <a:t>Libraries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Backend</a:t>
            </a:r>
            <a:r>
              <a:rPr sz="1600" b="0" i="0">
                <a:solidFill>
                  <a:schemeClr val="tx1"/>
                </a:solidFill>
              </a:rPr>
              <a:t>: FastAPI, Pydantic, SQLAlchemy 2, psycopg 3, Alembic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AI &amp; documents</a:t>
            </a:r>
            <a:r>
              <a:rPr sz="1600" b="0" i="0">
                <a:solidFill>
                  <a:schemeClr val="tx1"/>
                </a:solidFill>
              </a:rPr>
              <a:t>: fastembed (BGE-small), pypdf, httpx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Security</a:t>
            </a:r>
            <a:r>
              <a:rPr sz="1600" b="0" i="0">
                <a:solidFill>
                  <a:schemeClr val="tx1"/>
                </a:solidFill>
              </a:rPr>
              <a:t>: argon2-cffi, slowapi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Frontend</a:t>
            </a:r>
            <a:r>
              <a:rPr sz="1600" b="0" i="0">
                <a:solidFill>
                  <a:schemeClr val="tx1"/>
                </a:solidFill>
              </a:rPr>
              <a:t>: Next.js, React, TypeScript, Tailwind CSS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Data &amp; tests</a:t>
            </a:r>
            <a:r>
              <a:rPr sz="1600" b="0" i="0">
                <a:solidFill>
                  <a:schemeClr val="tx1"/>
                </a:solidFill>
              </a:rPr>
              <a:t>: Faker, NumPy, pytest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977639"/>
            <a:ext cx="5486400" cy="24231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0" y="4023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chemeClr val="accent2"/>
                </a:solidFill>
              </a:rPr>
              <a:t>Every tool call is checked by the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38912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chemeClr val="tx1"/>
                </a:solidFill>
                <a:latin typeface="Courier New"/>
              </a:rPr>
              <a:t>async def execute(call, user, db):</a:t>
            </a:r>
          </a:p>
          <a:p>
            <a:r>
              <a:rPr sz="1250" b="0" i="0">
                <a:solidFill>
                  <a:schemeClr val="tx1"/>
                </a:solidFill>
                <a:latin typeface="Courier New"/>
              </a:rPr>
              <a:t>    spec = TOOLS.get(call.name)</a:t>
            </a:r>
          </a:p>
          <a:p>
            <a:r>
              <a:rPr sz="1250" b="0" i="0">
                <a:solidFill>
                  <a:schemeClr val="tx1"/>
                </a:solidFill>
                <a:latin typeface="Courier New"/>
              </a:rPr>
              <a:t>    if spec is None or user.role not in spec.roles:</a:t>
            </a:r>
          </a:p>
          <a:p>
            <a:r>
              <a:rPr sz="1250" b="0" i="0">
                <a:solidFill>
                  <a:schemeClr val="tx1"/>
                </a:solidFill>
                <a:latin typeface="Courier New"/>
              </a:rPr>
              <a:t>        raise ToolNotPermitted(call.name)</a:t>
            </a:r>
          </a:p>
          <a:p>
            <a:r>
              <a:rPr sz="1250" b="0" i="0">
                <a:solidFill>
                  <a:schemeClr val="tx1"/>
                </a:solidFill>
                <a:latin typeface="Courier New"/>
              </a:rPr>
              <a:t>    args = spec.args.model_validate(call.arguments)</a:t>
            </a:r>
          </a:p>
          <a:p>
            <a:r>
              <a:rPr sz="1250" b="0" i="0">
                <a:solidFill>
                  <a:schemeClr val="tx1"/>
                </a:solidFill>
                <a:latin typeface="Courier New"/>
              </a:rPr>
              <a:t>    return await spec.fn(db, user.student_id, args)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989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chemeClr val="accent2"/>
                </a:solidFill>
              </a:rPr>
              <a:t>The student ID comes from the session, never from the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12. Security and Data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chemeClr val="tx1"/>
                </a:solidFill>
              </a:rPr>
              <a:t>Goal</a:t>
            </a:r>
            <a:r>
              <a:rPr sz="1800" b="0" i="0">
                <a:solidFill>
                  <a:schemeClr val="tx1"/>
                </a:solidFill>
              </a:rPr>
              <a:t>: make it impossible for one student to obtain another student's data, </a:t>
            </a:r>
            <a:r>
              <a:rPr sz="1800" b="1" i="0">
                <a:solidFill>
                  <a:schemeClr val="tx1"/>
                </a:solidFill>
              </a:rPr>
              <a:t>even if the AI is tricked</a:t>
            </a:r>
            <a:r>
              <a:rPr sz="1800" b="0" i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783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chemeClr val="accent2"/>
                </a:solidFill>
              </a:rPr>
              <a:t>Defence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2402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Session-derived identity</a:t>
            </a:r>
            <a:r>
              <a:rPr sz="1800" b="0" i="0">
                <a:solidFill>
                  <a:schemeClr val="tx1"/>
                </a:solidFill>
              </a:rPr>
              <a:t>: tools receive the student ID from the login, never from the model.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Allow-listed tools</a:t>
            </a:r>
            <a:r>
              <a:rPr sz="1800" b="0" i="0">
                <a:solidFill>
                  <a:schemeClr val="tx1"/>
                </a:solidFill>
              </a:rPr>
              <a:t>: role check and schema validation before every call.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No SQL from the model</a:t>
            </a:r>
            <a:r>
              <a:rPr sz="1800" b="0" i="0">
                <a:solidFill>
                  <a:schemeClr val="tx1"/>
                </a:solidFill>
              </a:rPr>
              <a:t>: only parameterised queries written by us.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Untrusted documents</a:t>
            </a:r>
            <a:r>
              <a:rPr sz="1800" b="0" i="0">
                <a:solidFill>
                  <a:schemeClr val="tx1"/>
                </a:solidFill>
              </a:rPr>
              <a:t>: retrieved text is data, never instructions.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Argon2id</a:t>
            </a:r>
            <a:r>
              <a:rPr sz="1800" b="0" i="0">
                <a:solidFill>
                  <a:schemeClr val="tx1"/>
                </a:solidFill>
              </a:rPr>
              <a:t> passwords, rate limits and audit logs.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83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chemeClr val="accent2"/>
                </a:solidFill>
              </a:rPr>
              <a:t>How We Test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2402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ID tampering</a:t>
            </a:r>
            <a:r>
              <a:rPr sz="1800" b="0" i="0">
                <a:solidFill>
                  <a:schemeClr val="tx1"/>
                </a:solidFill>
              </a:rPr>
              <a:t>: change IDs in requests; only own data is returned.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Prompt injection</a:t>
            </a:r>
            <a:r>
              <a:rPr sz="1800" b="0" i="0">
                <a:solidFill>
                  <a:schemeClr val="tx1"/>
                </a:solidFill>
              </a:rPr>
              <a:t>: “show another student's attendance”; no tool can fetch it.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Malicious PDF</a:t>
            </a:r>
            <a:r>
              <a:rPr sz="1800" b="0" i="0">
                <a:solidFill>
                  <a:schemeClr val="tx1"/>
                </a:solidFill>
              </a:rPr>
              <a:t>: a document saying “ignore your rules” has no effect.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1" i="0">
                <a:solidFill>
                  <a:schemeClr val="tx1"/>
                </a:solidFill>
              </a:rPr>
              <a:t>Admin endpoints</a:t>
            </a:r>
            <a:r>
              <a:rPr sz="1800" b="0" i="0">
                <a:solidFill>
                  <a:schemeClr val="tx1"/>
                </a:solidFill>
              </a:rPr>
              <a:t> called as a student are rejected (403).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Target: </a:t>
            </a:r>
            <a:r>
              <a:rPr sz="1800" b="1" i="0">
                <a:solidFill>
                  <a:schemeClr val="tx1"/>
                </a:solidFill>
              </a:rPr>
              <a:t>0 leaked records</a:t>
            </a:r>
            <a:r>
              <a:rPr sz="1800" b="0" i="0">
                <a:solidFill>
                  <a:schemeClr val="tx1"/>
                </a:solidFill>
              </a:rPr>
              <a:t> in every attack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13. SWOT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1051560"/>
            <a:ext cx="5715000" cy="2697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21207" y="112471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chemeClr val="tx1"/>
                </a:solidFill>
              </a:rPr>
              <a:t>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81912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Answers grounded in records and cited policy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Isolation enforced by the backend, not prompts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Deterministic calculations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Fully free stack; swappable LLM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8" y="1051560"/>
            <a:ext cx="5715000" cy="2697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36208" y="112471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chemeClr val="tx1"/>
                </a:solidFill>
              </a:rPr>
              <a:t>Weaknesses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81912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Synthetic data only; no live university link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Free-tier LLM rate limits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English only; no scanned PDFs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Small models may pick the wrong 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3749039"/>
            <a:ext cx="5715000" cy="2697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21207" y="3822191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chemeClr val="tx1"/>
                </a:solidFill>
              </a:rPr>
              <a:t>Opportunities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4279392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Integration with university ERP through APIs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Hindi and regional languages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Faculty and staff roles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Mobile and messaging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8" y="3749039"/>
            <a:ext cx="5715000" cy="2697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36208" y="3822191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chemeClr val="tx1"/>
                </a:solidFill>
              </a:rPr>
              <a:t>Threats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4279392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Changes to free-tier limits or terms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New prompt-injection techniques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DPDP Act duties for real deployment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800" b="0" i="0">
                <a:solidFill>
                  <a:schemeClr val="tx1"/>
                </a:solidFill>
              </a:rPr>
              <a:t>Loss of trust after a wrong answer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14. Project Schedule</a:t>
            </a:r>
          </a:p>
        </p:txBody>
      </p:sp>
      <p:pic>
        <p:nvPicPr>
          <p:cNvPr id="3" name="Picture 2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51560"/>
            <a:ext cx="7863840" cy="50323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143000"/>
            <a:ext cx="3383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31 days</a:t>
            </a:r>
            <a:r>
              <a:rPr sz="1600" b="0" i="0">
                <a:solidFill>
                  <a:schemeClr val="tx1"/>
                </a:solidFill>
              </a:rPr>
              <a:t>: 13 Oct – 12 Nov 2026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1" i="0">
                <a:solidFill>
                  <a:schemeClr val="tx1"/>
                </a:solidFill>
              </a:rPr>
              <a:t>Critical path</a:t>
            </a:r>
            <a:r>
              <a:rPr sz="1600" b="0" i="0">
                <a:solidFill>
                  <a:schemeClr val="tx1"/>
                </a:solidFill>
              </a:rPr>
              <a:t>: A → B → D → E → G → H → J → M → N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0" i="0">
                <a:solidFill>
                  <a:schemeClr val="tx1"/>
                </a:solidFill>
              </a:rPr>
              <a:t>Policy documents (C) and benchmark questions (L) run in parallel, with 9–12 days of slack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600" b="0" i="0">
                <a:solidFill>
                  <a:schemeClr val="tx1"/>
                </a:solidFill>
              </a:rPr>
              <a:t>Full PERT table (ES, EF, LS, slack) in the SRS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15. Limitations, Future Work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chemeClr val="accent2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4630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900" b="1" i="0">
                <a:solidFill>
                  <a:schemeClr val="tx1"/>
                </a:solidFill>
              </a:rPr>
              <a:t>Synthetic data only</a:t>
            </a:r>
            <a:r>
              <a:rPr sz="1900" b="0" i="0">
                <a:solidFill>
                  <a:schemeClr val="tx1"/>
                </a:solidFill>
              </a:rPr>
              <a:t>: no authorised university access yet.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900" b="1" i="0">
                <a:solidFill>
                  <a:schemeClr val="tx1"/>
                </a:solidFill>
              </a:rPr>
              <a:t>Free-tier LLM</a:t>
            </a:r>
            <a:r>
              <a:rPr sz="1900" b="0" i="0">
                <a:solidFill>
                  <a:schemeClr val="tx1"/>
                </a:solidFill>
              </a:rPr>
              <a:t>: rate limits and provider changes.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900" b="1" i="0">
                <a:solidFill>
                  <a:schemeClr val="tx1"/>
                </a:solidFill>
              </a:rPr>
              <a:t>English only</a:t>
            </a:r>
            <a:r>
              <a:rPr sz="1900" b="0" i="0">
                <a:solidFill>
                  <a:schemeClr val="tx1"/>
                </a:solidFill>
              </a:rPr>
              <a:t>; scanned PDFs not supported.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900" b="1" i="0">
                <a:solidFill>
                  <a:schemeClr val="tx1"/>
                </a:solidFill>
              </a:rPr>
              <a:t>Read-only tools</a:t>
            </a:r>
            <a:r>
              <a:rPr sz="1900" b="0" i="0">
                <a:solidFill>
                  <a:schemeClr val="tx1"/>
                </a:solidFill>
              </a:rPr>
              <a:t>: students cannot submit requests.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chemeClr val="accent2"/>
                </a:solidFill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900" b="1" i="0">
                <a:solidFill>
                  <a:schemeClr val="tx1"/>
                </a:solidFill>
              </a:rPr>
              <a:t>University API adapter</a:t>
            </a:r>
            <a:r>
              <a:rPr sz="1900" b="0" i="0">
                <a:solidFill>
                  <a:schemeClr val="tx1"/>
                </a:solidFill>
              </a:rPr>
              <a:t> for real records.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900" b="1" i="0">
                <a:solidFill>
                  <a:schemeClr val="tx1"/>
                </a:solidFill>
              </a:rPr>
              <a:t>Hindi and regional languages</a:t>
            </a:r>
            <a:r>
              <a:rPr sz="1900" b="0" i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900" b="1" i="0">
                <a:solidFill>
                  <a:schemeClr val="tx1"/>
                </a:solidFill>
              </a:rPr>
              <a:t>Faculty role</a:t>
            </a:r>
            <a:r>
              <a:rPr sz="1900" b="0" i="0">
                <a:solidFill>
                  <a:schemeClr val="tx1"/>
                </a:solidFill>
              </a:rPr>
              <a:t> and confirmation-gated actions (e.g. hostel leave).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900" b="1" i="0">
                <a:solidFill>
                  <a:schemeClr val="tx1"/>
                </a:solidFill>
              </a:rPr>
              <a:t>Mobile and messaging</a:t>
            </a:r>
            <a:r>
              <a:rPr sz="1900" b="0" i="0">
                <a:solidFill>
                  <a:schemeClr val="tx1"/>
                </a:solidFill>
              </a:rPr>
              <a:t> access.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43400"/>
            <a:ext cx="11430000" cy="21031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4434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92040"/>
            <a:ext cx="109728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chemeClr val="tx1"/>
                </a:solidFill>
              </a:rPr>
              <a:t>CampusGPT brings a student's own records and university policy into one conversational interface, with </a:t>
            </a:r>
            <a:r>
              <a:rPr sz="1800" b="1" i="0">
                <a:solidFill>
                  <a:schemeClr val="tx1"/>
                </a:solidFill>
              </a:rPr>
              <a:t>answers grounded in verified sources</a:t>
            </a:r>
            <a:r>
              <a:rPr sz="1800" b="0" i="0">
                <a:solidFill>
                  <a:schemeClr val="tx1"/>
                </a:solidFill>
              </a:rPr>
              <a:t> and </a:t>
            </a:r>
            <a:r>
              <a:rPr sz="1800" b="1" i="0">
                <a:solidFill>
                  <a:schemeClr val="tx1"/>
                </a:solidFill>
              </a:rPr>
              <a:t>privacy enforced by the backend, not by the prompt</a:t>
            </a:r>
            <a:r>
              <a:rPr sz="1800" b="0" i="0">
                <a:solidFill>
                  <a:schemeClr val="tx1"/>
                </a:solidFill>
              </a:rPr>
              <a:t>. The design is complete; implementation follows the 31-day plan, and evaluation will measure accuracy, citations and leakage against simpler baselines.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 i="0">
                <a:solidFill>
                  <a:schemeClr val="tx1"/>
                </a:solidFill>
              </a:rPr>
              <a:t>16.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5156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chemeClr val="tx1"/>
                </a:solidFill>
              </a:rPr>
              <a:t>[1] Cormack, G. V., Clarke, C. L. A., &amp; Buettcher, S. (2009). Reciprocal rank fusion outperforms Condorcet and individual rank learning methods. Proceedings of the 32nd ACM SIGIR Conference, 758–759.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chemeClr val="tx1"/>
                </a:solidFill>
              </a:rPr>
              <a:t>[2] Lewis, P., et al. (2020). Retrieval-augmented generation for knowledge-intensive NLP tasks. Advances in Neural Information Processing Systems, 33, 9459–9474.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chemeClr val="tx1"/>
                </a:solidFill>
              </a:rPr>
              <a:t>[3] Yao, S., et al. (2023). ReAct: Synergizing reasoning and acting in language models. International Conference on Learning Representations (ICLR).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chemeClr val="tx1"/>
                </a:solidFill>
              </a:rPr>
              <a:t>[4] Schick, T., et al. (2023). Toolformer: Language models can teach themselves to use tools. Advances in Neural Information Processing Systems, 36.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chemeClr val="tx1"/>
                </a:solidFill>
              </a:rPr>
              <a:t>[5] Greshake, K., et al. (2023). Not what you've signed up for: Compromising real-world LLM-integrated applications with indirect prompt injection. Proceedings of the 16th ACM Workshop on Artificial Intelligence and Security, 79–90.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chemeClr val="tx1"/>
                </a:solidFill>
              </a:rPr>
              <a:t>[6] Ji, Z., et al. (2023). Survey of hallucination in natural language generation. ACM Computing Surveys, 55(12), Article 248.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chemeClr val="tx1"/>
                </a:solidFill>
              </a:rPr>
              <a:t>[7] Es, S., James, J., Espinosa-Anke, L., &amp; Schockaert, S. (2024). RAGAS: Automated evaluation of retrieval augmented generation. Proceedings of EACL 2024: System Demonstrations, 150–158.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chemeClr val="tx1"/>
                </a:solidFill>
              </a:rPr>
              <a:t>[8] Malkov, Y. A., &amp; Yashunin, D. A. (2020). Efficient and robust approximate nearest neighbor search using hierarchical navigable small world graphs. IEEE Transactions on Pattern Analysis and Machine Intelligence, 42(4), 824–836.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chemeClr val="tx1"/>
                </a:solidFill>
              </a:rPr>
              <a:t>[9] PostgreSQL Global Development Group. PostgreSQL 16 documentation: NOTIFY and SELECT locking clause. https://www.postgresql.org/docs/16/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chemeClr val="tx1"/>
                </a:solidFill>
              </a:rPr>
              <a:t>[10] Kane, A. pgvector: Open-source vector similarity search for Postgres. https://github.com/pgvector/pgvector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sanVision Major Project">
  <a:themeElements>
    <a:clrScheme name="KisanVision Major Project">
      <a:dk1>
        <a:srgbClr val="0A0A0A"/>
      </a:dk1>
      <a:lt1>
        <a:srgbClr val="FFFFFF"/>
      </a:lt1>
      <a:dk2>
        <a:srgbClr val="123B63"/>
      </a:dk2>
      <a:lt2>
        <a:srgbClr val="EAF4FD"/>
      </a:lt2>
      <a:accent1>
        <a:srgbClr val="46B0F9"/>
      </a:accent1>
      <a:accent2>
        <a:srgbClr val="1F5E99"/>
      </a:accent2>
      <a:accent3>
        <a:srgbClr val="3E9B4F"/>
      </a:accent3>
      <a:accent4>
        <a:srgbClr val="E08A00"/>
      </a:accent4>
      <a:accent5>
        <a:srgbClr val="D6336C"/>
      </a:accent5>
      <a:accent6>
        <a:srgbClr val="7B4FC9"/>
      </a:accent6>
      <a:hlink>
        <a:srgbClr val="1F5E99"/>
      </a:hlink>
      <a:folHlink>
        <a:srgbClr val="444444"/>
      </a:folHlink>
    </a:clrScheme>
    <a:fontScheme name="KisanVision Major Project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KisanVision: AI-Powered Crop Yield Prediction System</dc:title>
  <dc:subject>PptxGenJS Presentation</dc:subject>
  <dc:creator>Team KisanVision</dc:creator>
  <cp:lastModifiedBy>Team KisanVision</cp:lastModifiedBy>
  <cp:revision>1</cp:revision>
  <dcterms:created xsi:type="dcterms:W3CDTF">2026-10-13T05:41:43Z</dcterms:created>
  <dcterms:modified xsi:type="dcterms:W3CDTF">2026-10-13T05:41:43Z</dcterms:modified>
</cp:coreProperties>
</file>